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7" r:id="rId4"/>
    <p:sldId id="258" r:id="rId5"/>
    <p:sldId id="259" r:id="rId6"/>
    <p:sldId id="260" r:id="rId7"/>
    <p:sldId id="263" r:id="rId8"/>
    <p:sldId id="261" r:id="rId9"/>
    <p:sldId id="262" r:id="rId10"/>
    <p:sldId id="264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32" y="169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04C22B-FD40-4C3B-8B12-84D07E70293E}" type="datetimeFigureOut">
              <a:rPr lang="ko-KR" altLang="en-US" smtClean="0"/>
              <a:t>2026-06-25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CEAAC3-546B-4F68-96AE-D397B71089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1046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문제부터: 페르소나 김싸피로 공감대.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페르소나의 감정 곡선으로 'why'를 전달. 탐색 단계의 답답함(저점)을 애만보가 어떻게 안도→만족으로 끌어올리는지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핵심 가치 한 줄로 각인.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이어보기가 킬러기능 — 데모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AI/검색/개인화 — 데모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기술스택 간결히.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여기서 라이브 데모 시작. 각본대로만.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데이터 구축이 진짜 난이도 — 차별점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기획 대비 확장분이 성장 스토리.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마무리.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88575" y="4572000"/>
            <a:ext cx="2651760" cy="2651760"/>
          </a:xfrm>
          <a:prstGeom prst="ellipse">
            <a:avLst/>
          </a:prstGeom>
          <a:solidFill>
            <a:srgbClr val="5B3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82735" y="4114800"/>
            <a:ext cx="2011680" cy="201168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-822960" y="-822960"/>
            <a:ext cx="2011680" cy="2011680"/>
          </a:xfrm>
          <a:prstGeom prst="ellipse">
            <a:avLst/>
          </a:prstGeom>
          <a:solidFill>
            <a:srgbClr val="5B3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7315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애만보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애니 보고, 만화 보고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5204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 i="0">
                <a:solidFill>
                  <a:srgbClr val="B9B2CC"/>
                </a:solidFill>
                <a:latin typeface="Malgun Gothic"/>
                <a:ea typeface="Malgun Gothic"/>
                <a:cs typeface="Malgun Gothic"/>
              </a:rPr>
              <a:t>애니 시청 후, </a:t>
            </a:r>
            <a:r>
              <a:rPr sz="19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원작 만화 이어볼 지점</a:t>
            </a:r>
            <a:r>
              <a:rPr sz="1900" b="0" i="0">
                <a:solidFill>
                  <a:srgbClr val="B9B2CC"/>
                </a:solidFill>
                <a:latin typeface="Malgun Gothic"/>
                <a:ea typeface="Malgun Gothic"/>
                <a:cs typeface="Malgun Gothic"/>
              </a:rPr>
              <a:t>을 한 번에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943600"/>
            <a:ext cx="91440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관통</a:t>
            </a:r>
            <a:r>
              <a:rPr sz="1400" b="0" i="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 PJT · SSAFY 15기     |     </a:t>
            </a:r>
            <a:r>
              <a:rPr lang="ko-KR" altLang="en-US" sz="140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김선종</a:t>
            </a:r>
            <a:r>
              <a:rPr lang="en-US" altLang="ko-KR" sz="140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40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김경민</a:t>
            </a:r>
            <a:endParaRPr sz="1400" b="0" i="0" dirty="0">
              <a:solidFill>
                <a:srgbClr val="8E87A6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이런 적, 있으시죠?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83080"/>
            <a:ext cx="4754880" cy="420624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280160" y="2194560"/>
            <a:ext cx="914400" cy="91440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80160" y="2176272"/>
            <a:ext cx="9144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423160" y="2304288"/>
            <a:ext cx="29260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김경민 · 27세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23160" y="2743200"/>
            <a:ext cx="3063240" cy="204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숨</a:t>
            </a:r>
            <a:r>
              <a:rPr lang="ko-KR" altLang="en-US" sz="130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쉬었음</a:t>
            </a:r>
            <a:r>
              <a:rPr sz="130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청년</a:t>
            </a:r>
            <a:r>
              <a:rPr sz="130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30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장르</a:t>
            </a:r>
            <a:r>
              <a:rPr sz="130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불문</a:t>
            </a:r>
            <a:r>
              <a:rPr sz="130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애니</a:t>
            </a:r>
            <a:r>
              <a:rPr sz="130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0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매니아</a:t>
            </a:r>
            <a:endParaRPr sz="1300" b="0" i="0" dirty="0">
              <a:solidFill>
                <a:srgbClr val="8A839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25880" y="3401568"/>
            <a:ext cx="4023360" cy="2103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22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60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귀멸의 칼날 1기 다 봤다!</a:t>
            </a:r>
          </a:p>
          <a:p>
            <a:pPr algn="l">
              <a:lnSpc>
                <a:spcPct val="122000"/>
              </a:lnSpc>
              <a:spcAft>
                <a:spcPts val="500"/>
              </a:spcAft>
            </a:pPr>
            <a:r>
              <a:rPr sz="14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2기는 언제 나와… 못 기다려, 만화로 볼까?</a:t>
            </a:r>
          </a:p>
          <a:p>
            <a:pPr algn="l">
              <a:lnSpc>
                <a:spcPct val="122000"/>
              </a:lnSpc>
            </a:pPr>
            <a:r>
              <a:rPr sz="160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근데 몇 화부터 봐야 하지?</a:t>
            </a:r>
            <a:r>
              <a:rPr sz="22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78308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지금은 이렇게 불편해요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2377440"/>
            <a:ext cx="534924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263640" y="2624328"/>
            <a:ext cx="457200" cy="45720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263640" y="259689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542032"/>
            <a:ext cx="4297680" cy="656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검색해도</a:t>
            </a:r>
            <a:r>
              <a:rPr sz="16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제각각</a:t>
            </a:r>
            <a:r>
              <a:rPr lang="en-US" sz="16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/ </a:t>
            </a:r>
            <a:r>
              <a:rPr lang="ko-KR" altLang="en-US" sz="16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부정확</a:t>
            </a:r>
            <a:endParaRPr sz="1600" b="1" i="0" dirty="0">
              <a:solidFill>
                <a:srgbClr val="1A1622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블로그·커뮤니티마다</a:t>
            </a:r>
            <a:r>
              <a:rPr sz="125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권/</a:t>
            </a:r>
            <a:r>
              <a:rPr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화가</a:t>
            </a:r>
            <a:r>
              <a:rPr sz="125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달라</a:t>
            </a:r>
            <a:r>
              <a:rPr sz="125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헷갈림</a:t>
            </a:r>
            <a:endParaRPr lang="en-US" sz="1250" b="0" i="0" dirty="0">
              <a:solidFill>
                <a:srgbClr val="8A8398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lang="en-US" sz="125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lang="ko-KR" altLang="en-US"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할루시네이션</a:t>
            </a:r>
            <a:endParaRPr sz="1250" b="0" i="0" dirty="0">
              <a:solidFill>
                <a:srgbClr val="8A8398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35040" y="3566160"/>
            <a:ext cx="534924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6263640" y="3813048"/>
            <a:ext cx="457200" cy="45720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263640" y="378561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3730752"/>
            <a:ext cx="429768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스포일러 위험</a:t>
            </a:r>
          </a:p>
          <a:p>
            <a:pPr algn="l"/>
            <a:r>
              <a:rPr sz="125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찾다가 결말을 봐버리는 경우도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035040" y="4754880"/>
            <a:ext cx="5349240" cy="9601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263640" y="5001768"/>
            <a:ext cx="457200" cy="45720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263640" y="4974336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!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4919472"/>
            <a:ext cx="4297680" cy="4642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결국</a:t>
            </a:r>
            <a:r>
              <a:rPr sz="16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포기</a:t>
            </a:r>
            <a:endParaRPr sz="1600" b="1" i="0" dirty="0">
              <a:solidFill>
                <a:srgbClr val="1A1622"/>
              </a:solidFill>
              <a:latin typeface="Malgun Gothic"/>
              <a:ea typeface="Malgun Gothic"/>
              <a:cs typeface="Malgun Gothic"/>
            </a:endParaRPr>
          </a:p>
          <a:p>
            <a:pPr algn="l"/>
            <a:r>
              <a:rPr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어디서부터</a:t>
            </a:r>
            <a:r>
              <a:rPr sz="125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볼지</a:t>
            </a:r>
            <a:r>
              <a:rPr sz="125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250" b="0" i="0" dirty="0" err="1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몰라</a:t>
            </a:r>
            <a:r>
              <a:rPr sz="1250" b="0" i="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250" dirty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포기</a:t>
            </a:r>
            <a:endParaRPr sz="1250" b="0" i="0" dirty="0">
              <a:solidFill>
                <a:srgbClr val="8A8398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411480"/>
            <a:ext cx="7315200" cy="731520"/>
          </a:xfrm>
          <a:prstGeom prst="rect">
            <a:avLst/>
          </a:prstGeom>
          <a:noFill/>
        </p:spPr>
        <p:txBody>
          <a:bodyPr wrap="square" lIns="25400" tIns="0" rIns="25400" bIns="0" anchor="t">
            <a:spAutoFit/>
          </a:bodyPr>
          <a:lstStyle/>
          <a:p>
            <a:pPr algn="l"/>
            <a:r>
              <a:rPr sz="36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고객 여정 지도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457200"/>
          </a:xfrm>
          <a:prstGeom prst="rect">
            <a:avLst/>
          </a:prstGeom>
          <a:noFill/>
        </p:spPr>
        <p:txBody>
          <a:bodyPr wrap="square" lIns="25400" tIns="0" rIns="25400" bIns="0" anchor="t">
            <a:spAutoFit/>
          </a:bodyPr>
          <a:lstStyle/>
          <a:p>
            <a:pPr algn="l"/>
            <a:r>
              <a:rPr sz="150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페르소나 “김경민”이 애니를 다 본 순간부터, 원작에 빠져 다시 찾을 때까지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572768" y="160020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7C4DEF"/>
          </a:solidFill>
          <a:ln w="12700">
            <a:solidFill>
              <a:srgbClr val="5B3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572768" y="1600200"/>
            <a:ext cx="1965960" cy="56692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01  인지 · 계기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21024" y="160020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7C4DEF"/>
          </a:solidFill>
          <a:ln w="12700">
            <a:solidFill>
              <a:srgbClr val="5B3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21024" y="1600200"/>
            <a:ext cx="1965960" cy="56692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02  탐색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0" y="160020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7C4DEF"/>
          </a:solidFill>
          <a:ln w="12700">
            <a:solidFill>
              <a:srgbClr val="5B3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0" y="1600200"/>
            <a:ext cx="1965960" cy="56692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  발견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17536" y="160020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7C4DEF"/>
          </a:solidFill>
          <a:ln w="12700">
            <a:solidFill>
              <a:srgbClr val="5B3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17536" y="1600200"/>
            <a:ext cx="1965960" cy="56692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04  이어보기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65792" y="1600200"/>
            <a:ext cx="1965960" cy="566928"/>
          </a:xfrm>
          <a:prstGeom prst="roundRect">
            <a:avLst>
              <a:gd name="adj" fmla="val 18000"/>
            </a:avLst>
          </a:prstGeom>
          <a:solidFill>
            <a:srgbClr val="7C4DEF"/>
          </a:solidFill>
          <a:ln w="12700">
            <a:solidFill>
              <a:srgbClr val="5B3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765792" y="1600200"/>
            <a:ext cx="1965960" cy="56692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/>
            <a:r>
              <a:rPr sz="13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05  재방문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" y="1883664"/>
            <a:ext cx="128016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r"/>
            <a:r>
              <a:rPr sz="12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" y="2971800"/>
            <a:ext cx="128016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r"/>
            <a:r>
              <a:rPr sz="12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감정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555748" y="2852928"/>
            <a:ext cx="2048256" cy="548640"/>
          </a:xfrm>
          <a:prstGeom prst="line">
            <a:avLst/>
          </a:prstGeom>
          <a:ln w="28575">
            <a:solidFill>
              <a:srgbClr val="C9C2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4604004" y="3035808"/>
            <a:ext cx="2048256" cy="365760"/>
          </a:xfrm>
          <a:prstGeom prst="line">
            <a:avLst/>
          </a:prstGeom>
          <a:ln w="28575">
            <a:solidFill>
              <a:srgbClr val="C9C2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652260" y="2761488"/>
            <a:ext cx="2048255" cy="274320"/>
          </a:xfrm>
          <a:prstGeom prst="line">
            <a:avLst/>
          </a:prstGeom>
          <a:ln w="28575">
            <a:solidFill>
              <a:srgbClr val="C9C2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8700515" y="2715768"/>
            <a:ext cx="2048257" cy="45720"/>
          </a:xfrm>
          <a:prstGeom prst="line">
            <a:avLst/>
          </a:prstGeom>
          <a:ln w="28575">
            <a:solidFill>
              <a:srgbClr val="C9C2E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2391156" y="2697480"/>
            <a:ext cx="329184" cy="329184"/>
          </a:xfrm>
          <a:prstGeom prst="ellipse">
            <a:avLst/>
          </a:prstGeom>
          <a:solidFill>
            <a:srgbClr val="2BB6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72768" y="3063240"/>
            <a:ext cx="1965960" cy="292608"/>
          </a:xfrm>
          <a:prstGeom prst="rect">
            <a:avLst/>
          </a:prstGeom>
          <a:noFill/>
        </p:spPr>
        <p:txBody>
          <a:bodyPr wrap="square" lIns="25400" tIns="0" rIns="25400" bIns="0" anchor="t">
            <a:spAutoFit/>
          </a:bodyPr>
          <a:lstStyle/>
          <a:p>
            <a:pPr algn="ctr"/>
            <a:r>
              <a:rPr sz="1150" b="1" i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기대</a:t>
            </a:r>
          </a:p>
        </p:txBody>
      </p:sp>
      <p:sp>
        <p:nvSpPr>
          <p:cNvPr id="23" name="Oval 22"/>
          <p:cNvSpPr/>
          <p:nvPr/>
        </p:nvSpPr>
        <p:spPr>
          <a:xfrm>
            <a:off x="4439412" y="3246120"/>
            <a:ext cx="329184" cy="329184"/>
          </a:xfrm>
          <a:prstGeom prst="ellipse">
            <a:avLst/>
          </a:prstGeom>
          <a:solidFill>
            <a:srgbClr val="FF3E6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621024" y="2916936"/>
            <a:ext cx="1965960" cy="292608"/>
          </a:xfrm>
          <a:prstGeom prst="rect">
            <a:avLst/>
          </a:prstGeom>
          <a:noFill/>
        </p:spPr>
        <p:txBody>
          <a:bodyPr wrap="square" lIns="25400" tIns="0" rIns="25400" bIns="0" anchor="t">
            <a:spAutoFit/>
          </a:bodyPr>
          <a:lstStyle/>
          <a:p>
            <a:pPr algn="ctr"/>
            <a:r>
              <a:rPr sz="115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답답함</a:t>
            </a:r>
          </a:p>
        </p:txBody>
      </p:sp>
      <p:sp>
        <p:nvSpPr>
          <p:cNvPr id="25" name="Oval 24"/>
          <p:cNvSpPr/>
          <p:nvPr/>
        </p:nvSpPr>
        <p:spPr>
          <a:xfrm>
            <a:off x="6487668" y="2880360"/>
            <a:ext cx="329184" cy="329184"/>
          </a:xfrm>
          <a:prstGeom prst="ellipse">
            <a:avLst/>
          </a:prstGeom>
          <a:solidFill>
            <a:srgbClr val="F2A93B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69280" y="3246120"/>
            <a:ext cx="1965960" cy="292608"/>
          </a:xfrm>
          <a:prstGeom prst="rect">
            <a:avLst/>
          </a:prstGeom>
          <a:noFill/>
        </p:spPr>
        <p:txBody>
          <a:bodyPr wrap="square" lIns="25400" tIns="0" rIns="25400" bIns="0" anchor="t">
            <a:spAutoFit/>
          </a:bodyPr>
          <a:lstStyle/>
          <a:p>
            <a:pPr algn="ctr"/>
            <a:r>
              <a:rPr sz="1150" b="1" i="0">
                <a:solidFill>
                  <a:srgbClr val="F2A93B"/>
                </a:solidFill>
                <a:latin typeface="Malgun Gothic"/>
                <a:ea typeface="Malgun Gothic"/>
                <a:cs typeface="Malgun Gothic"/>
              </a:rPr>
              <a:t>안도</a:t>
            </a:r>
          </a:p>
        </p:txBody>
      </p:sp>
      <p:sp>
        <p:nvSpPr>
          <p:cNvPr id="27" name="Oval 26"/>
          <p:cNvSpPr/>
          <p:nvPr/>
        </p:nvSpPr>
        <p:spPr>
          <a:xfrm>
            <a:off x="8535924" y="2606040"/>
            <a:ext cx="329184" cy="329184"/>
          </a:xfrm>
          <a:prstGeom prst="ellipse">
            <a:avLst/>
          </a:prstGeom>
          <a:solidFill>
            <a:srgbClr val="2BB6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717536" y="2971800"/>
            <a:ext cx="1965960" cy="292608"/>
          </a:xfrm>
          <a:prstGeom prst="rect">
            <a:avLst/>
          </a:prstGeom>
          <a:noFill/>
        </p:spPr>
        <p:txBody>
          <a:bodyPr wrap="square" lIns="25400" tIns="0" rIns="25400" bIns="0" anchor="t">
            <a:spAutoFit/>
          </a:bodyPr>
          <a:lstStyle/>
          <a:p>
            <a:pPr algn="ctr"/>
            <a:r>
              <a:rPr sz="1150" b="1" i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만족</a:t>
            </a:r>
          </a:p>
        </p:txBody>
      </p:sp>
      <p:sp>
        <p:nvSpPr>
          <p:cNvPr id="29" name="Oval 28"/>
          <p:cNvSpPr/>
          <p:nvPr/>
        </p:nvSpPr>
        <p:spPr>
          <a:xfrm>
            <a:off x="10584180" y="2560320"/>
            <a:ext cx="329184" cy="329184"/>
          </a:xfrm>
          <a:prstGeom prst="ellipse">
            <a:avLst/>
          </a:prstGeom>
          <a:solidFill>
            <a:srgbClr val="2BB673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65792" y="2926079"/>
            <a:ext cx="1965960" cy="292608"/>
          </a:xfrm>
          <a:prstGeom prst="rect">
            <a:avLst/>
          </a:prstGeom>
          <a:noFill/>
        </p:spPr>
        <p:txBody>
          <a:bodyPr wrap="square" lIns="25400" tIns="0" rIns="25400" bIns="0" anchor="t">
            <a:spAutoFit/>
          </a:bodyPr>
          <a:lstStyle/>
          <a:p>
            <a:pPr algn="ctr"/>
            <a:r>
              <a:rPr sz="1150" b="1" i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충성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" y="4069080"/>
            <a:ext cx="128016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r"/>
            <a:r>
              <a:rPr sz="12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행동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572768" y="3657600"/>
            <a:ext cx="19659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682495" y="3657600"/>
            <a:ext cx="1746504" cy="84124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귀멸 1기 정주행 완료,
“2기 못 기다려”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21024" y="3657600"/>
            <a:ext cx="19659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730752" y="3657600"/>
            <a:ext cx="1746504" cy="84124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어디서부터 볼지
검색·커뮤니티 탐색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0" y="3657600"/>
            <a:ext cx="19659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779008" y="3657600"/>
            <a:ext cx="1746504" cy="84124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애만보에서 검색 →
이어보기 지점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717536" y="3657600"/>
            <a:ext cx="19659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7827263" y="3657600"/>
            <a:ext cx="1746504" cy="84124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원작 만화로 이동,
찜·댓글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765792" y="3657600"/>
            <a:ext cx="1965960" cy="8412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875519" y="3657600"/>
            <a:ext cx="1746504" cy="84124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AI·취향 추천으로
다음 작품 발견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28600" y="4937760"/>
            <a:ext cx="128016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r"/>
            <a:r>
              <a:rPr sz="12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기존 페인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572768" y="4553712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FF1F3"/>
          </a:solidFill>
          <a:ln w="12700">
            <a:solidFill>
              <a:srgbClr val="FA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682495" y="4553712"/>
            <a:ext cx="1746504" cy="74980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다음 이야기 갈증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621024" y="4553712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FF1F3"/>
          </a:solidFill>
          <a:ln w="12700">
            <a:solidFill>
              <a:srgbClr val="FA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730752" y="4553712"/>
            <a:ext cx="1746504" cy="74980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정보 제각각·
스포일러 위험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0" y="4553712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1FAF5"/>
          </a:solidFill>
          <a:ln w="12700">
            <a:solidFill>
              <a:srgbClr val="CDE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779008" y="4553712"/>
            <a:ext cx="1746504" cy="74980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— 해소 시작 —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17536" y="4553712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1FAF5"/>
          </a:solidFill>
          <a:ln w="12700">
            <a:solidFill>
              <a:srgbClr val="CDEA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7827263" y="4553712"/>
            <a:ext cx="1746504" cy="749808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ctr">
              <a:lnSpc>
                <a:spcPct val="110000"/>
              </a:lnSpc>
            </a:pPr>
            <a:r>
              <a:rPr sz="1150" b="1" i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— 만족 —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765792" y="4553712"/>
            <a:ext cx="1965960" cy="749808"/>
          </a:xfrm>
          <a:prstGeom prst="roundRect">
            <a:avLst>
              <a:gd name="adj" fmla="val 8000"/>
            </a:avLst>
          </a:prstGeom>
          <a:solidFill>
            <a:srgbClr val="FFF1F3"/>
          </a:solidFill>
          <a:ln w="12700">
            <a:solidFill>
              <a:srgbClr val="FAD4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875519" y="4839521"/>
            <a:ext cx="1746504" cy="17819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 dirty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볼 게 </a:t>
            </a:r>
            <a:r>
              <a:rPr sz="1150" b="1" i="0" dirty="0" err="1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떨어짐</a:t>
            </a:r>
            <a:r>
              <a:rPr lang="en-US" sz="1150" b="1" i="0" dirty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en-US" sz="1150" b="1" dirty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(</a:t>
            </a:r>
            <a:r>
              <a:rPr lang="ko-KR" altLang="en-US" sz="1150" b="1" i="0" dirty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애니불감증</a:t>
            </a:r>
            <a:r>
              <a:rPr lang="en-US" altLang="ko-KR" sz="1150" b="1" i="0" dirty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)</a:t>
            </a:r>
            <a:endParaRPr sz="1150" b="1" i="0" dirty="0">
              <a:solidFill>
                <a:srgbClr val="FF3E64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228600" y="5897880"/>
            <a:ext cx="1280160" cy="45720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r"/>
            <a:r>
              <a:rPr sz="12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애만보 해결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572768" y="5394960"/>
            <a:ext cx="1965960" cy="1005840"/>
          </a:xfrm>
          <a:prstGeom prst="roundRect">
            <a:avLst>
              <a:gd name="adj" fmla="val 10000"/>
            </a:avLst>
          </a:prstGeom>
          <a:solidFill>
            <a:srgbClr val="F3EFFC"/>
          </a:solidFill>
          <a:ln w="12700">
            <a:solidFill>
              <a:srgbClr val="7C4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1682495" y="5394960"/>
            <a:ext cx="1746504" cy="10058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“원작이 있다”를
인지시키는 진입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621024" y="5394960"/>
            <a:ext cx="1965960" cy="1005840"/>
          </a:xfrm>
          <a:prstGeom prst="roundRect">
            <a:avLst>
              <a:gd name="adj" fmla="val 10000"/>
            </a:avLst>
          </a:prstGeom>
          <a:solidFill>
            <a:srgbClr val="F3EFFC"/>
          </a:solidFill>
          <a:ln w="12700">
            <a:solidFill>
              <a:srgbClr val="7C4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3730752" y="5394960"/>
            <a:ext cx="1746504" cy="10058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제목·자연어 검색으로
빠르게 도달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0" y="5394960"/>
            <a:ext cx="1965960" cy="1005840"/>
          </a:xfrm>
          <a:prstGeom prst="roundRect">
            <a:avLst>
              <a:gd name="adj" fmla="val 10000"/>
            </a:avLst>
          </a:prstGeom>
          <a:solidFill>
            <a:srgbClr val="F3EFFC"/>
          </a:solidFill>
          <a:ln w="12700">
            <a:solidFill>
              <a:srgbClr val="7C4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5779008" y="5394960"/>
            <a:ext cx="1746504" cy="10058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“N권 M화부터”
정확한 지점 제시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717536" y="5394960"/>
            <a:ext cx="1965960" cy="1005840"/>
          </a:xfrm>
          <a:prstGeom prst="roundRect">
            <a:avLst>
              <a:gd name="adj" fmla="val 10000"/>
            </a:avLst>
          </a:prstGeom>
          <a:solidFill>
            <a:srgbClr val="F3EFFC"/>
          </a:solidFill>
          <a:ln w="12700">
            <a:solidFill>
              <a:srgbClr val="7C4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7827263" y="5394960"/>
            <a:ext cx="1746504" cy="10058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양방향 이동·찜으로
매끄러운 연결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9765792" y="5394960"/>
            <a:ext cx="1965960" cy="1005840"/>
          </a:xfrm>
          <a:prstGeom prst="roundRect">
            <a:avLst>
              <a:gd name="adj" fmla="val 10000"/>
            </a:avLst>
          </a:prstGeom>
          <a:solidFill>
            <a:srgbClr val="F3EFFC"/>
          </a:solidFill>
          <a:ln w="12700">
            <a:solidFill>
              <a:srgbClr val="7C4D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9875519" y="5394960"/>
            <a:ext cx="1746504" cy="1005840"/>
          </a:xfrm>
          <a:prstGeom prst="rect">
            <a:avLst/>
          </a:prstGeom>
          <a:noFill/>
        </p:spPr>
        <p:txBody>
          <a:bodyPr wrap="square" lIns="25400" tIns="0" rIns="2540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무드·취향 추천으로
재방문 유도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애만보가 해결합니다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27632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애니를 본 뒤 </a:t>
            </a:r>
            <a:r>
              <a:rPr sz="2200" b="1" i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원작 만화를 어디서부터 이어볼지</a:t>
            </a:r>
            <a:r>
              <a:rPr sz="220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즉시 알려주는 플랫폼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743200"/>
            <a:ext cx="3520440" cy="306324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8720" y="3127248"/>
            <a:ext cx="731520" cy="73152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411480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정확한 이어보기 매핑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470916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애니 시즌 → 원작 N권 M화부터.
1,000개 작품, 892개 지점 검수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2743200"/>
            <a:ext cx="3520440" cy="306324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4892040" y="3127248"/>
            <a:ext cx="731520" cy="73152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892040" y="4114800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AI · 개인화 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92040" y="470916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취향·자연어 기반 추천과
선호 장르 맞춤 큐레이션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743200"/>
            <a:ext cx="3520440" cy="306324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595360" y="3127248"/>
            <a:ext cx="731520" cy="731520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595360" y="4114800"/>
            <a:ext cx="2834640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커뮤니티</a:t>
            </a:r>
            <a:endParaRPr sz="1800" b="1" i="0" dirty="0">
              <a:solidFill>
                <a:srgbClr val="1A162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95360" y="4709160"/>
            <a:ext cx="2834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작품마다 감상·댓글을 남기고
다른 팬들과 이야기하는 공간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1913021" y="635267"/>
            <a:ext cx="603504" cy="603504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913021" y="616979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90261" y="671843"/>
            <a:ext cx="10058400" cy="5078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애니를</a:t>
            </a:r>
            <a:r>
              <a:rPr sz="33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3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봤다면</a:t>
            </a:r>
            <a:r>
              <a:rPr sz="33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33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원작은</a:t>
            </a:r>
            <a:r>
              <a:rPr sz="33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3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여기부터</a:t>
            </a:r>
            <a:endParaRPr sz="3300" b="1" i="0" dirty="0">
              <a:solidFill>
                <a:srgbClr val="1A162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1913021" y="1979435"/>
            <a:ext cx="3291840" cy="1828800"/>
          </a:xfrm>
          <a:prstGeom prst="roundRect">
            <a:avLst>
              <a:gd name="adj" fmla="val 7000"/>
            </a:avLst>
          </a:prstGeom>
          <a:solidFill>
            <a:srgbClr val="7C4DEF"/>
          </a:solidFill>
          <a:ln w="12700">
            <a:solidFill>
              <a:srgbClr val="5B34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095901" y="1979435"/>
            <a:ext cx="292608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 dirty="0" err="1">
                <a:solidFill>
                  <a:srgbClr val="E8DEFF"/>
                </a:solidFill>
                <a:latin typeface="Malgun Gothic"/>
                <a:ea typeface="Malgun Gothic"/>
                <a:cs typeface="Malgun Gothic"/>
              </a:rPr>
              <a:t>애니</a:t>
            </a:r>
            <a:r>
              <a:rPr sz="1600" b="0" i="0" dirty="0">
                <a:solidFill>
                  <a:srgbClr val="E8DEFF"/>
                </a:solidFill>
                <a:latin typeface="Malgun Gothic"/>
                <a:ea typeface="Malgun Gothic"/>
                <a:cs typeface="Malgun Gothic"/>
              </a:rPr>
              <a:t> 1기</a:t>
            </a:r>
          </a:p>
          <a:p>
            <a:pPr algn="ctr"/>
            <a:r>
              <a:rPr sz="2400"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귀멸의</a:t>
            </a:r>
            <a:r>
              <a:rPr sz="2400"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2400"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칼날</a:t>
            </a:r>
            <a:endParaRPr sz="2400" b="1" i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04861" y="1979435"/>
            <a:ext cx="137160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400" b="1" i="0">
                <a:solidFill>
                  <a:srgbClr val="7C4DE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76461" y="1979435"/>
            <a:ext cx="3657600" cy="1828800"/>
          </a:xfrm>
          <a:prstGeom prst="roundRect">
            <a:avLst>
              <a:gd name="adj" fmla="val 7000"/>
            </a:avLst>
          </a:prstGeom>
          <a:solidFill>
            <a:srgbClr val="FF3E64"/>
          </a:solidFill>
          <a:ln w="12700">
            <a:solidFill>
              <a:srgbClr val="E029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59341" y="1979435"/>
            <a:ext cx="3291840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FFD9E1"/>
                </a:solidFill>
                <a:latin typeface="Malgun Gothic"/>
                <a:ea typeface="Malgun Gothic"/>
                <a:cs typeface="Malgun Gothic"/>
              </a:rPr>
              <a:t>원작 만화</a:t>
            </a:r>
          </a:p>
          <a:p>
            <a:pPr algn="ctr"/>
            <a:r>
              <a:rPr sz="2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7권 54화부터</a:t>
            </a:r>
          </a:p>
        </p:txBody>
      </p:sp>
      <p:sp>
        <p:nvSpPr>
          <p:cNvPr id="11" name="Oval 10"/>
          <p:cNvSpPr/>
          <p:nvPr/>
        </p:nvSpPr>
        <p:spPr>
          <a:xfrm>
            <a:off x="2478505" y="4535424"/>
            <a:ext cx="237744" cy="237744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889985" y="448056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시즌별 이어보기 — 한 만화에 연결된 여러 애니 시즌을 방영 연도순으로</a:t>
            </a:r>
          </a:p>
        </p:txBody>
      </p:sp>
      <p:sp>
        <p:nvSpPr>
          <p:cNvPr id="13" name="Oval 12"/>
          <p:cNvSpPr/>
          <p:nvPr/>
        </p:nvSpPr>
        <p:spPr>
          <a:xfrm>
            <a:off x="2478505" y="5084063"/>
            <a:ext cx="237744" cy="237744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889985" y="5641847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애니 ↔ 원작 양방향 이동, 포스터·줄거리·장르 제공</a:t>
            </a:r>
          </a:p>
        </p:txBody>
      </p:sp>
      <p:sp>
        <p:nvSpPr>
          <p:cNvPr id="15" name="Oval 14"/>
          <p:cNvSpPr/>
          <p:nvPr/>
        </p:nvSpPr>
        <p:spPr>
          <a:xfrm>
            <a:off x="2478505" y="5632703"/>
            <a:ext cx="237744" cy="237744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889985" y="5040989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“</a:t>
            </a:r>
            <a:r>
              <a:rPr sz="160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애니</a:t>
            </a:r>
            <a:r>
              <a:rPr sz="160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시청</a:t>
            </a:r>
            <a:r>
              <a:rPr sz="160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후 </a:t>
            </a:r>
            <a:r>
              <a:rPr sz="160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원작</a:t>
            </a:r>
            <a:r>
              <a:rPr sz="160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N권</a:t>
            </a:r>
            <a:r>
              <a:rPr sz="160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M화부터</a:t>
            </a:r>
            <a:r>
              <a:rPr sz="160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” </a:t>
            </a:r>
            <a:r>
              <a:rPr sz="160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안내</a:t>
            </a:r>
            <a:r>
              <a:rPr sz="160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문구</a:t>
            </a:r>
            <a:r>
              <a:rPr sz="160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자동</a:t>
            </a:r>
            <a:r>
              <a:rPr sz="160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60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생성</a:t>
            </a:r>
            <a:endParaRPr sz="160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22960" y="676656"/>
            <a:ext cx="603504" cy="603504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658368"/>
            <a:ext cx="603504" cy="6035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713232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3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AI · 개인화 · 똑똑한 검색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3520440" cy="36576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188720" y="2331720"/>
            <a:ext cx="731520" cy="73152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26280" y="1965960"/>
            <a:ext cx="3520440" cy="36576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892040" y="2331720"/>
            <a:ext cx="731520" cy="73152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229600" y="1965960"/>
            <a:ext cx="3520440" cy="36576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595360" y="2331720"/>
            <a:ext cx="731520" cy="731520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53138" y="3359080"/>
            <a:ext cx="2831487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선호</a:t>
            </a:r>
            <a:r>
              <a:rPr sz="18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장르</a:t>
            </a:r>
            <a:r>
              <a:rPr sz="18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온보딩</a:t>
            </a:r>
            <a:endParaRPr sz="1800" b="1" i="0" dirty="0">
              <a:solidFill>
                <a:srgbClr val="1A162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253138" y="3901909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첫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로그인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시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장르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설문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→ 홈 “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오늘의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랜덤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픽”을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취향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맞춤으로</a:t>
            </a:r>
            <a:endParaRPr sz="14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5360" y="3358719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자연어</a:t>
            </a:r>
            <a:r>
              <a:rPr sz="18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검색</a:t>
            </a:r>
            <a:r>
              <a:rPr sz="18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폴백</a:t>
            </a:r>
            <a:endParaRPr sz="1800" b="1" i="0" dirty="0">
              <a:solidFill>
                <a:srgbClr val="1A162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5360" y="3817034"/>
            <a:ext cx="288036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제목이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안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맞아도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OK. “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도깨비”로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검색하면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줄거리·장르로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귀멸의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칼날을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찾아줌</a:t>
            </a:r>
            <a:endParaRPr sz="14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0" y="3818418"/>
            <a:ext cx="2880360" cy="8382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lang="ko-KR" altLang="en-US" sz="145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입력받은</a:t>
            </a:r>
            <a:r>
              <a:rPr lang="ko-KR" altLang="en-US" sz="145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자연어</a:t>
            </a:r>
            <a:r>
              <a:rPr lang="ko-KR" altLang="en-US"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를</a:t>
            </a:r>
            <a:r>
              <a:rPr lang="ko-KR" altLang="en-US"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바탕으로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추천</a:t>
            </a:r>
            <a:endParaRPr lang="en-US" sz="14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30000"/>
              </a:lnSpc>
            </a:pP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DB에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있는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작품만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클릭형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카드로</a:t>
            </a:r>
            <a:r>
              <a:rPr sz="14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lang="ko-KR" altLang="en-US" sz="145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추천</a:t>
            </a:r>
            <a:endParaRPr sz="14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892040" y="3361759"/>
            <a:ext cx="28346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AI </a:t>
            </a:r>
            <a:r>
              <a:rPr sz="18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추천</a:t>
            </a:r>
            <a:r>
              <a:rPr sz="18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8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챗봇</a:t>
            </a:r>
            <a:endParaRPr sz="1800" b="1" i="0" dirty="0">
              <a:solidFill>
                <a:srgbClr val="1A1622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9728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기술 스택 &amp; 아키텍처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82880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43000" y="2148840"/>
            <a:ext cx="566928" cy="566928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43000" y="2971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Vue 3 (Vite)
vue-router SPA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79" y="182880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3931920" y="2148840"/>
            <a:ext cx="566928" cy="566928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0" y="2971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Django 5 + DRF
세션 인증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82880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720840" y="2148840"/>
            <a:ext cx="566928" cy="566928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20840" y="2971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AniList · MangaUpdates
CSV 파이프라인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828800"/>
            <a:ext cx="2606040" cy="22860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9509760" y="2148840"/>
            <a:ext cx="566928" cy="566928"/>
          </a:xfrm>
          <a:prstGeom prst="ellipse">
            <a:avLst/>
          </a:prstGeom>
          <a:solidFill>
            <a:srgbClr val="5B3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509760" y="2971800"/>
            <a:ext cx="2011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0" y="3429000"/>
            <a:ext cx="21031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OpenAI gpt-4o-mini
(SSAFY GMS)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4617720"/>
            <a:ext cx="10515600" cy="1417320"/>
          </a:xfrm>
          <a:prstGeom prst="roundRect">
            <a:avLst>
              <a:gd name="adj" fmla="val 7000"/>
            </a:avLst>
          </a:prstGeom>
          <a:solidFill>
            <a:srgbClr val="1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4617720"/>
            <a:ext cx="10058400" cy="1417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Vue SPA</a:t>
            </a:r>
            <a:r>
              <a:rPr sz="160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 ⇄  </a:t>
            </a:r>
            <a:r>
              <a:rPr sz="1600" b="1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Django REST API</a:t>
            </a:r>
            <a:r>
              <a:rPr sz="160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 ⇄  </a:t>
            </a:r>
            <a:r>
              <a:rPr sz="1600" b="1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SQLite</a:t>
            </a:r>
            <a:r>
              <a:rPr sz="160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     |      </a:t>
            </a:r>
            <a:r>
              <a:rPr sz="16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OpenAI</a:t>
            </a:r>
            <a:r>
              <a:rPr sz="160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6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AniList</a:t>
            </a:r>
            <a:r>
              <a:rPr sz="160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6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MangaUpdates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777240"/>
            <a:ext cx="109728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지금부터</a:t>
            </a:r>
            <a:r>
              <a:rPr sz="3400"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, 김</a:t>
            </a:r>
            <a:r>
              <a:rPr lang="ko-KR" altLang="en-US" sz="3400"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경민이</a:t>
            </a:r>
            <a:r>
              <a:rPr sz="3400" b="1" i="0" dirty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400" b="1" i="0" dirty="0" err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보여드립니다</a:t>
            </a:r>
            <a:endParaRPr sz="3400" b="1" i="0" dirty="0">
              <a:solidFill>
                <a:srgbClr val="FFFFFF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627632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700" b="0" i="0">
                <a:solidFill>
                  <a:srgbClr val="B9B2CC"/>
                </a:solidFill>
                <a:latin typeface="Malgun Gothic"/>
                <a:ea typeface="Malgun Gothic"/>
                <a:cs typeface="Malgun Gothic"/>
              </a:rPr>
              <a:t>성공 케이스 시나리오 — 실제 사용 흐름 그대로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14600"/>
            <a:ext cx="2743200" cy="1371600"/>
          </a:xfrm>
          <a:prstGeom prst="roundRect">
            <a:avLst>
              <a:gd name="adj" fmla="val 7000"/>
            </a:avLst>
          </a:prstGeom>
          <a:solidFill>
            <a:srgbClr val="2A2238"/>
          </a:solidFill>
          <a:ln w="12700">
            <a:solidFill>
              <a:srgbClr val="3A3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051560" y="2944368"/>
            <a:ext cx="502920" cy="50292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51560" y="29169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69748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홈 “오늘의 랜덤 픽”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0" y="2514600"/>
            <a:ext cx="2743200" cy="1371600"/>
          </a:xfrm>
          <a:prstGeom prst="roundRect">
            <a:avLst>
              <a:gd name="adj" fmla="val 7000"/>
            </a:avLst>
          </a:prstGeom>
          <a:solidFill>
            <a:srgbClr val="2A2238"/>
          </a:solidFill>
          <a:ln w="12700">
            <a:solidFill>
              <a:srgbClr val="3A3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3886200" y="2944368"/>
            <a:ext cx="502920" cy="50292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886200" y="29169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69748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“귀멸의 칼날” 검색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2514600"/>
            <a:ext cx="2743200" cy="1371600"/>
          </a:xfrm>
          <a:prstGeom prst="roundRect">
            <a:avLst>
              <a:gd name="adj" fmla="val 7000"/>
            </a:avLst>
          </a:prstGeom>
          <a:solidFill>
            <a:srgbClr val="2A2238"/>
          </a:solidFill>
          <a:ln w="12700">
            <a:solidFill>
              <a:srgbClr val="3A3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6720840" y="2944368"/>
            <a:ext cx="502920" cy="50292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720840" y="29169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19" y="269748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이어보기 7권 54화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514600"/>
            <a:ext cx="2743200" cy="1371600"/>
          </a:xfrm>
          <a:prstGeom prst="roundRect">
            <a:avLst>
              <a:gd name="adj" fmla="val 7000"/>
            </a:avLst>
          </a:prstGeom>
          <a:solidFill>
            <a:srgbClr val="2A2238"/>
          </a:solidFill>
          <a:ln w="12700">
            <a:solidFill>
              <a:srgbClr val="3A3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555480" y="2944368"/>
            <a:ext cx="502920" cy="50292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555480" y="291693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95559" y="269748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원작 만화로 이동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40280" y="4160520"/>
            <a:ext cx="2743200" cy="1371600"/>
          </a:xfrm>
          <a:prstGeom prst="roundRect">
            <a:avLst>
              <a:gd name="adj" fmla="val 7000"/>
            </a:avLst>
          </a:prstGeom>
          <a:solidFill>
            <a:srgbClr val="2A2238"/>
          </a:solidFill>
          <a:ln w="12700">
            <a:solidFill>
              <a:srgbClr val="3A3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2468880" y="4590288"/>
            <a:ext cx="502920" cy="50292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456285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34340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챗봇: “울고 싶은 날”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09560" y="4160520"/>
            <a:ext cx="2743200" cy="1371600"/>
          </a:xfrm>
          <a:prstGeom prst="roundRect">
            <a:avLst>
              <a:gd name="adj" fmla="val 7000"/>
            </a:avLst>
          </a:prstGeom>
          <a:solidFill>
            <a:srgbClr val="2A2238"/>
          </a:solidFill>
          <a:ln w="12700">
            <a:solidFill>
              <a:srgbClr val="3A30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138160" y="4590288"/>
            <a:ext cx="502920" cy="50292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456285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343400"/>
            <a:ext cx="1783080" cy="1005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검색: “도깨비” 폴백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972800" cy="5693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7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1,000개 </a:t>
            </a:r>
            <a:r>
              <a:rPr sz="37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매핑</a:t>
            </a:r>
            <a:r>
              <a:rPr sz="3700" b="1" i="0" dirty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3700" b="1" i="0" dirty="0" err="1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데이터</a:t>
            </a:r>
            <a:endParaRPr sz="3700" b="1" i="0" dirty="0">
              <a:solidFill>
                <a:srgbClr val="1A1622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5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직접 만든 CSV + Python 스크립트로  수집 → 전처리 → 검증 → DB 적재까지 자동화</a:t>
            </a:r>
          </a:p>
        </p:txBody>
      </p:sp>
      <p:sp>
        <p:nvSpPr>
          <p:cNvPr id="5" name="Oval 4"/>
          <p:cNvSpPr/>
          <p:nvPr/>
        </p:nvSpPr>
        <p:spPr>
          <a:xfrm>
            <a:off x="868680" y="2240280"/>
            <a:ext cx="457200" cy="45720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222199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81328" y="2221992"/>
            <a:ext cx="5715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C4DEF"/>
                </a:solidFill>
                <a:latin typeface="Malgun Gothic"/>
                <a:ea typeface="Malgun Gothic"/>
                <a:cs typeface="Malgun Gothic"/>
              </a:rPr>
              <a:t>[수집] </a:t>
            </a:r>
            <a:r>
              <a:rPr sz="145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AniList — 애니↔만화 관계·메타데이터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971800"/>
            <a:ext cx="457200" cy="45720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295351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2953512"/>
            <a:ext cx="5715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7C4DEF"/>
                </a:solidFill>
                <a:latin typeface="Malgun Gothic"/>
                <a:ea typeface="Malgun Gothic"/>
                <a:cs typeface="Malgun Gothic"/>
              </a:rPr>
              <a:t>[수집] </a:t>
            </a:r>
            <a:r>
              <a:rPr sz="145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MangaUpdates — 애니화 범위·이어보기 힌트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" y="368503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81328" y="3685032"/>
            <a:ext cx="5715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[전처리] </a:t>
            </a:r>
            <a:r>
              <a:rPr sz="145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번역·정제 — 줄거리/제목 한글화·오역 교정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434840"/>
            <a:ext cx="457200" cy="45720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441655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4416552"/>
            <a:ext cx="571500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[</a:t>
            </a:r>
            <a:r>
              <a:rPr sz="1300" b="1" i="0" dirty="0" err="1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검증</a:t>
            </a:r>
            <a:r>
              <a:rPr sz="1300" b="1" i="0" dirty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]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이어보기</a:t>
            </a:r>
            <a:r>
              <a:rPr sz="1450" b="1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분류</a:t>
            </a:r>
            <a:r>
              <a:rPr sz="1450" b="1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—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출처</a:t>
            </a:r>
            <a:r>
              <a:rPr sz="1450" b="1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450" b="1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자동</a:t>
            </a:r>
            <a:r>
              <a:rPr sz="1450" b="1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판정</a:t>
            </a:r>
            <a:endParaRPr sz="1450" b="1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Oval 16"/>
          <p:cNvSpPr/>
          <p:nvPr/>
        </p:nvSpPr>
        <p:spPr>
          <a:xfrm>
            <a:off x="868680" y="5166359"/>
            <a:ext cx="457200" cy="45720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5148072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81328" y="5287963"/>
            <a:ext cx="5715000" cy="22313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[</a:t>
            </a:r>
            <a:r>
              <a:rPr sz="1300" b="1" i="0" dirty="0" err="1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적재</a:t>
            </a:r>
            <a:r>
              <a:rPr sz="1300" b="1" i="0" dirty="0">
                <a:solidFill>
                  <a:srgbClr val="5B34C0"/>
                </a:solidFill>
                <a:latin typeface="Malgun Gothic"/>
                <a:ea typeface="Malgun Gothic"/>
                <a:cs typeface="Malgun Gothic"/>
              </a:rPr>
              <a:t>]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import_dataset</a:t>
            </a:r>
            <a:r>
              <a:rPr sz="1450" b="1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— DB </a:t>
            </a:r>
            <a:r>
              <a:rPr sz="1450" b="1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적재</a:t>
            </a:r>
            <a:endParaRPr sz="1450" b="1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7315200" y="2240280"/>
            <a:ext cx="4023360" cy="11430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543800" y="240487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7C4DEF"/>
                </a:solidFill>
                <a:latin typeface="Malgun Gothic"/>
                <a:ea typeface="Malgun Gothic"/>
                <a:cs typeface="Malgun Gothic"/>
              </a:rPr>
              <a:t>1,000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240280"/>
            <a:ext cx="18288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애니–만화 매핑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0" y="3566160"/>
            <a:ext cx="4023360" cy="11430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543800" y="373075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FF3E64"/>
                </a:solidFill>
                <a:latin typeface="Malgun Gothic"/>
                <a:ea typeface="Malgun Gothic"/>
                <a:cs typeface="Malgun Gothic"/>
              </a:rPr>
              <a:t>892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3566160"/>
            <a:ext cx="18288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이어보기 지점 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0" y="4892040"/>
            <a:ext cx="4023360" cy="114300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43800" y="5056632"/>
            <a:ext cx="173736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400" b="1" i="0">
                <a:solidFill>
                  <a:srgbClr val="2BB673"/>
                </a:solidFill>
                <a:latin typeface="Malgun Gothic"/>
                <a:ea typeface="Malgun Gothic"/>
                <a:cs typeface="Malgun Gothic"/>
              </a:rPr>
              <a:t>79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4892040"/>
            <a:ext cx="1828800" cy="1143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제목 오역 일괄 교정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서비스 확장성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81328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>
                <a:solidFill>
                  <a:srgbClr val="8A8398"/>
                </a:solidFill>
                <a:latin typeface="Malgun Gothic"/>
                <a:ea typeface="Malgun Gothic"/>
                <a:cs typeface="Malgun Gothic"/>
              </a:rPr>
              <a:t>지금 구조 위에서, 어디까지 넓힐 수 있는가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194560"/>
            <a:ext cx="5074920" cy="178308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88720" y="2651760"/>
            <a:ext cx="777240" cy="777240"/>
          </a:xfrm>
          <a:prstGeom prst="ellipse">
            <a:avLst/>
          </a:prstGeom>
          <a:solidFill>
            <a:srgbClr val="7C4D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240280" y="248716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데이터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2999232"/>
            <a:ext cx="3520440" cy="868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구축한 CSV·스크립트 파이프라인을 재사용해
인기작 1,000개 → 전체 작품으로 자동 확대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2194560"/>
            <a:ext cx="5074920" cy="178308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675120" y="2651760"/>
            <a:ext cx="777240" cy="77724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26680" y="248716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인프라 확장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26680" y="2999232"/>
            <a:ext cx="3520440" cy="4922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클라우드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배포로</a:t>
            </a:r>
            <a:endParaRPr lang="en-US" sz="135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25000"/>
              </a:lnSpc>
            </a:pP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트래픽·동시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사용자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대응</a:t>
            </a:r>
            <a:endParaRPr sz="13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22960" y="4160520"/>
            <a:ext cx="5074920" cy="178308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88720" y="4617720"/>
            <a:ext cx="777240" cy="777240"/>
          </a:xfrm>
          <a:prstGeom prst="ellipse">
            <a:avLst/>
          </a:prstGeom>
          <a:solidFill>
            <a:srgbClr val="2BB6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240280" y="445312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추천 고도화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4965192"/>
            <a:ext cx="3520440" cy="751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임베딩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기반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의미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검색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원작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신간·애니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
2기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출시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알림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등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개인화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강화</a:t>
            </a:r>
            <a:endParaRPr lang="en-US" sz="13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25000"/>
              </a:lnSpc>
            </a:pPr>
            <a:r>
              <a:rPr lang="ko-KR" altLang="en-US" sz="135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웹 </a:t>
            </a:r>
            <a:r>
              <a:rPr lang="ko-KR" altLang="en-US" sz="135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서치</a:t>
            </a:r>
            <a:r>
              <a:rPr lang="ko-KR" altLang="en-US" sz="135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기반 추천 기능</a:t>
            </a:r>
            <a:endParaRPr sz="13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309360" y="4160520"/>
            <a:ext cx="5074920" cy="1783080"/>
          </a:xfrm>
          <a:prstGeom prst="roundRect">
            <a:avLst>
              <a:gd name="adj" fmla="val 7000"/>
            </a:avLst>
          </a:prstGeom>
          <a:solidFill>
            <a:srgbClr val="F3EFFC"/>
          </a:solidFill>
          <a:ln w="12700">
            <a:solidFill>
              <a:srgbClr val="E6DE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75120" y="4617720"/>
            <a:ext cx="777240" cy="777240"/>
          </a:xfrm>
          <a:prstGeom prst="ellipse">
            <a:avLst/>
          </a:prstGeom>
          <a:solidFill>
            <a:srgbClr val="5B3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26680" y="4453128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>
                <a:solidFill>
                  <a:srgbClr val="1A1622"/>
                </a:solidFill>
                <a:latin typeface="Malgun Gothic"/>
                <a:ea typeface="Malgun Gothic"/>
                <a:cs typeface="Malgun Gothic"/>
              </a:rPr>
              <a:t>커뮤니티·글로벌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4965192"/>
            <a:ext cx="3520440" cy="751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5000"/>
              </a:lnSpc>
            </a:pP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대댓글·좋아요로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커뮤니티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확장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,
</a:t>
            </a:r>
            <a:r>
              <a:rPr lang="ko-KR" altLang="en-US" sz="135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게시판 개설</a:t>
            </a:r>
            <a:endParaRPr lang="en-US" sz="13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  <a:p>
            <a:pPr algn="l">
              <a:lnSpc>
                <a:spcPct val="125000"/>
              </a:lnSpc>
            </a:pP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보유한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원제로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다국어</a:t>
            </a:r>
            <a:r>
              <a:rPr sz="1350" b="0" i="0" dirty="0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 </a:t>
            </a:r>
            <a:r>
              <a:rPr sz="1350" b="0" i="0" dirty="0" err="1">
                <a:solidFill>
                  <a:srgbClr val="2A2435"/>
                </a:solidFill>
                <a:latin typeface="Malgun Gothic"/>
                <a:ea typeface="Malgun Gothic"/>
                <a:cs typeface="Malgun Gothic"/>
              </a:rPr>
              <a:t>지원</a:t>
            </a:r>
            <a:endParaRPr lang="en-US" sz="1350" b="0" i="0" dirty="0">
              <a:solidFill>
                <a:srgbClr val="2A2435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6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0088575" y="4572000"/>
            <a:ext cx="2651760" cy="2651760"/>
          </a:xfrm>
          <a:prstGeom prst="ellipse">
            <a:avLst/>
          </a:prstGeom>
          <a:solidFill>
            <a:srgbClr val="5B34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082735" y="4114800"/>
            <a:ext cx="2011680" cy="2011680"/>
          </a:xfrm>
          <a:prstGeom prst="ellipse">
            <a:avLst/>
          </a:prstGeom>
          <a:solidFill>
            <a:srgbClr val="FF3E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82296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감사합니다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20440"/>
            <a:ext cx="100584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0" i="0">
                <a:solidFill>
                  <a:srgbClr val="B9B2CC"/>
                </a:solidFill>
                <a:latin typeface="Malgun Gothic"/>
                <a:ea typeface="Malgun Gothic"/>
                <a:cs typeface="Malgun Gothic"/>
              </a:rPr>
              <a:t>애니 보고, 만화 보고 — </a:t>
            </a:r>
            <a:r>
              <a:rPr sz="2000" b="1" i="0">
                <a:solidFill>
                  <a:srgbClr val="CADCFC"/>
                </a:solidFill>
                <a:latin typeface="Malgun Gothic"/>
                <a:ea typeface="Malgun Gothic"/>
                <a:cs typeface="Malgun Gothic"/>
              </a:rPr>
              <a:t>원작으로 이어지는 가장 빠른 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43600"/>
            <a:ext cx="100584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 i="0" dirty="0" err="1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애만보</a:t>
            </a:r>
            <a:r>
              <a:rPr sz="1400" b="0" i="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 · </a:t>
            </a:r>
            <a:r>
              <a:rPr sz="1400" b="0" i="0" dirty="0" err="1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관통</a:t>
            </a:r>
            <a:r>
              <a:rPr sz="1400" b="0" i="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 PJT  |  </a:t>
            </a:r>
            <a:r>
              <a:rPr lang="ko-KR" altLang="en-US" sz="140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김선종</a:t>
            </a:r>
            <a:r>
              <a:rPr lang="en-US" altLang="ko-KR" sz="140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, </a:t>
            </a:r>
            <a:r>
              <a:rPr lang="ko-KR" altLang="en-US" sz="140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김경민</a:t>
            </a:r>
            <a:r>
              <a:rPr sz="1400" b="0" i="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|  </a:t>
            </a:r>
            <a:r>
              <a:rPr lang="en-US" sz="1400" b="0" i="0" dirty="0">
                <a:solidFill>
                  <a:srgbClr val="8E87A6"/>
                </a:solidFill>
                <a:latin typeface="Malgun Gothic"/>
                <a:ea typeface="Malgun Gothic"/>
                <a:cs typeface="Malgun Gothic"/>
              </a:rPr>
              <a:t>https://github.com/gangmom5272/aemanbo.git</a:t>
            </a:r>
            <a:endParaRPr sz="1400" b="0" i="0" dirty="0">
              <a:solidFill>
                <a:srgbClr val="8E87A6"/>
              </a:solidFill>
              <a:latin typeface="Malgun Gothic"/>
              <a:ea typeface="Malgun Gothic"/>
              <a:cs typeface="Malgun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375</TotalTime>
  <Words>797</Words>
  <Application>Microsoft Office PowerPoint</Application>
  <PresentationFormat>와이드스크린</PresentationFormat>
  <Paragraphs>149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맑은 고딕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cp:keywords/>
  <dc:description>generated using python-pptx</dc:description>
  <cp:lastModifiedBy>SSAFY</cp:lastModifiedBy>
  <cp:revision>9</cp:revision>
  <dcterms:created xsi:type="dcterms:W3CDTF">2013-01-27T09:14:16Z</dcterms:created>
  <dcterms:modified xsi:type="dcterms:W3CDTF">2026-06-25T08:07:28Z</dcterms:modified>
  <cp:category/>
</cp:coreProperties>
</file>