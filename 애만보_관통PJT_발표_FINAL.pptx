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59" r:id="rId6"/>
    <p:sldId id="260" r:id="rId7"/>
    <p:sldId id="263" r:id="rId8"/>
    <p:sldId id="261" r:id="rId9"/>
    <p:sldId id="262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26" y="5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04C22B-FD40-4C3B-8B12-84D07E70293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CEAAC3-546B-4F68-96AE-D397B71089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046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문제부터: 페르소나 김싸피로 공감대.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페르소나의 감정 곡선으로 'why'를 전달. 탐색 단계의 답답함(저점)을 애만보가 어떻게 안도→만족으로 끌어올리는지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 가치 한 줄로 각인.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이어보기가 킬러기능 — 데모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AI/검색/개인화 — 데모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기술스택 간결히.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라이브 데모 시작. 각본대로만.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데이터 구축이 진짜 난이도 — 차별점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기획 대비 확장분이 성장 스토리.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88575" y="4572000"/>
            <a:ext cx="2651760" cy="2651760"/>
          </a:xfrm>
          <a:prstGeom prst="ellipse">
            <a:avLst/>
          </a:prstGeom>
          <a:solidFill>
            <a:srgbClr val="5B3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82735" y="4114800"/>
            <a:ext cx="2011680" cy="201168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rgbClr val="5B3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애만보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애니 보고, 만화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B9B2CC"/>
                </a:solidFill>
                <a:latin typeface="Malgun Gothic"/>
                <a:ea typeface="Malgun Gothic"/>
                <a:cs typeface="Malgun Gothic"/>
              </a:rPr>
              <a:t>애니 시청 후, </a:t>
            </a:r>
            <a:r>
              <a:rPr sz="19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원작 만화 이어볼 지점</a:t>
            </a:r>
            <a:r>
              <a:rPr sz="1900" b="0" i="0">
                <a:solidFill>
                  <a:srgbClr val="B9B2CC"/>
                </a:solidFill>
                <a:latin typeface="Malgun Gothic"/>
                <a:ea typeface="Malgun Gothic"/>
                <a:cs typeface="Malgun Gothic"/>
              </a:rPr>
              <a:t>을 한 번에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43600"/>
            <a:ext cx="9144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관통</a:t>
            </a:r>
            <a:r>
              <a:rPr sz="1400" b="0" i="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 PJT · SSAFY 15기     |     </a:t>
            </a:r>
            <a:r>
              <a:rPr lang="ko-KR" altLang="en-US" sz="140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김선종</a:t>
            </a:r>
            <a:r>
              <a:rPr lang="en-US" altLang="ko-KR" sz="140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40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김경민</a:t>
            </a:r>
            <a:endParaRPr sz="1400" b="0" i="0" dirty="0">
              <a:solidFill>
                <a:srgbClr val="8E87A6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이런 적, 있으시죠?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4754880" cy="420624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80160" y="2194560"/>
            <a:ext cx="914400" cy="91440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176272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30428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김경민 · 27세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743200"/>
            <a:ext cx="3063240" cy="204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숨</a:t>
            </a:r>
            <a:r>
              <a:rPr lang="ko-KR" altLang="en-US" sz="130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쉬었음</a:t>
            </a:r>
            <a:r>
              <a:rPr sz="130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청년</a:t>
            </a:r>
            <a:r>
              <a:rPr sz="130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30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장르</a:t>
            </a:r>
            <a:r>
              <a:rPr sz="130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불문</a:t>
            </a:r>
            <a:r>
              <a:rPr sz="130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애니</a:t>
            </a:r>
            <a:r>
              <a:rPr sz="130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매니아</a:t>
            </a:r>
            <a:endParaRPr sz="1300" b="0" i="0" dirty="0">
              <a:solidFill>
                <a:srgbClr val="8A839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5880" y="3401568"/>
            <a:ext cx="40233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22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60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귀멸의 칼날 1기 다 봤다!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4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2기는 언제 나와… 못 기다려, 만화로 볼까?</a:t>
            </a:r>
          </a:p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근데 몇 화부터 봐야 하지?</a:t>
            </a:r>
            <a:r>
              <a:rPr sz="22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지금은 이렇게 불편해요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377440"/>
            <a:ext cx="534924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63640" y="2624328"/>
            <a:ext cx="457200" cy="45720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5968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42032"/>
            <a:ext cx="4297680" cy="656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검색해도</a:t>
            </a:r>
            <a:r>
              <a:rPr sz="16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제각각</a:t>
            </a:r>
            <a:r>
              <a:rPr lang="en-US" sz="16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lang="ko-KR" altLang="en-US" sz="16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부정확</a:t>
            </a:r>
            <a:endParaRPr sz="1600" b="1" i="0" dirty="0">
              <a:solidFill>
                <a:srgbClr val="1A1622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블로그·커뮤니티마다</a:t>
            </a:r>
            <a:r>
              <a:rPr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권/</a:t>
            </a:r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화가</a:t>
            </a:r>
            <a:r>
              <a:rPr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달라</a:t>
            </a:r>
            <a:r>
              <a:rPr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헷갈림</a:t>
            </a:r>
            <a:endParaRPr lang="en-US" sz="1250" b="0" i="0" dirty="0">
              <a:solidFill>
                <a:srgbClr val="8A8398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lang="en-US"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lang="ko-KR" altLang="en-US"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할루시네이션</a:t>
            </a:r>
            <a:endParaRPr sz="1250" b="0" i="0" dirty="0">
              <a:solidFill>
                <a:srgbClr val="8A839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35040" y="3566160"/>
            <a:ext cx="534924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63640" y="3813048"/>
            <a:ext cx="457200" cy="45720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7856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730752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스포일러 위험</a:t>
            </a:r>
          </a:p>
          <a:p>
            <a:pPr algn="l"/>
            <a:r>
              <a:rPr sz="125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찾다가 결말을 봐버리는 경우도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754880"/>
            <a:ext cx="534924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63640" y="5001768"/>
            <a:ext cx="457200" cy="45720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49743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919472"/>
            <a:ext cx="429768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결국</a:t>
            </a:r>
            <a:r>
              <a:rPr sz="16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포기</a:t>
            </a:r>
            <a:endParaRPr sz="1600" b="1" i="0" dirty="0">
              <a:solidFill>
                <a:srgbClr val="1A1622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어디서부터</a:t>
            </a:r>
            <a:r>
              <a:rPr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볼지</a:t>
            </a:r>
            <a:r>
              <a:rPr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몰라</a:t>
            </a:r>
            <a:r>
              <a:rPr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포기</a:t>
            </a:r>
            <a:endParaRPr sz="1250" b="0" i="0" dirty="0">
              <a:solidFill>
                <a:srgbClr val="8A8398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731520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l"/>
            <a:r>
              <a:rPr sz="36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고객 여정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457200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l"/>
            <a:r>
              <a:rPr sz="15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페르소나 “김경민”이 애니를 다 본 순간부터, 원작에 빠져 다시 찾을 때까지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2768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7C4DEF"/>
          </a:solidFill>
          <a:ln w="12700">
            <a:solidFill>
              <a:srgbClr val="5B3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600200"/>
            <a:ext cx="1965960" cy="56692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  인지 · 계기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1024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7C4DEF"/>
          </a:solidFill>
          <a:ln w="12700">
            <a:solidFill>
              <a:srgbClr val="5B3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21024" y="1600200"/>
            <a:ext cx="1965960" cy="56692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  탐색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7C4DEF"/>
          </a:solidFill>
          <a:ln w="12700">
            <a:solidFill>
              <a:srgbClr val="5B3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600200"/>
            <a:ext cx="1965960" cy="56692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  발견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17536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7C4DEF"/>
          </a:solidFill>
          <a:ln w="12700">
            <a:solidFill>
              <a:srgbClr val="5B3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17536" y="1600200"/>
            <a:ext cx="1965960" cy="56692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  이어보기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65792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7C4DEF"/>
          </a:solidFill>
          <a:ln w="12700">
            <a:solidFill>
              <a:srgbClr val="5B3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65792" y="1600200"/>
            <a:ext cx="1965960" cy="56692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  재방문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1883664"/>
            <a:ext cx="128016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r"/>
            <a:r>
              <a:rPr sz="12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971800"/>
            <a:ext cx="128016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r"/>
            <a:r>
              <a:rPr sz="12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감정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55748" y="2852928"/>
            <a:ext cx="2048256" cy="548640"/>
          </a:xfrm>
          <a:prstGeom prst="line">
            <a:avLst/>
          </a:prstGeom>
          <a:ln w="28575">
            <a:solidFill>
              <a:srgbClr val="C9C2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604004" y="3035808"/>
            <a:ext cx="2048256" cy="365760"/>
          </a:xfrm>
          <a:prstGeom prst="line">
            <a:avLst/>
          </a:prstGeom>
          <a:ln w="28575">
            <a:solidFill>
              <a:srgbClr val="C9C2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652260" y="2761488"/>
            <a:ext cx="2048255" cy="274320"/>
          </a:xfrm>
          <a:prstGeom prst="line">
            <a:avLst/>
          </a:prstGeom>
          <a:ln w="28575">
            <a:solidFill>
              <a:srgbClr val="C9C2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700515" y="2715768"/>
            <a:ext cx="2048257" cy="45720"/>
          </a:xfrm>
          <a:prstGeom prst="line">
            <a:avLst/>
          </a:prstGeom>
          <a:ln w="28575">
            <a:solidFill>
              <a:srgbClr val="C9C2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391156" y="2697480"/>
            <a:ext cx="329184" cy="329184"/>
          </a:xfrm>
          <a:prstGeom prst="ellipse">
            <a:avLst/>
          </a:prstGeom>
          <a:solidFill>
            <a:srgbClr val="2BB6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72768" y="3063240"/>
            <a:ext cx="1965960" cy="292608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ctr"/>
            <a:r>
              <a:rPr sz="1150" b="1" i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기대</a:t>
            </a:r>
          </a:p>
        </p:txBody>
      </p:sp>
      <p:sp>
        <p:nvSpPr>
          <p:cNvPr id="23" name="Oval 22"/>
          <p:cNvSpPr/>
          <p:nvPr/>
        </p:nvSpPr>
        <p:spPr>
          <a:xfrm>
            <a:off x="4439412" y="3246120"/>
            <a:ext cx="329184" cy="329184"/>
          </a:xfrm>
          <a:prstGeom prst="ellipse">
            <a:avLst/>
          </a:prstGeom>
          <a:solidFill>
            <a:srgbClr val="FF3E6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21024" y="2916936"/>
            <a:ext cx="1965960" cy="292608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ctr"/>
            <a:r>
              <a:rPr sz="115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답답함</a:t>
            </a:r>
          </a:p>
        </p:txBody>
      </p:sp>
      <p:sp>
        <p:nvSpPr>
          <p:cNvPr id="25" name="Oval 24"/>
          <p:cNvSpPr/>
          <p:nvPr/>
        </p:nvSpPr>
        <p:spPr>
          <a:xfrm>
            <a:off x="6487668" y="2880360"/>
            <a:ext cx="329184" cy="329184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0" y="3246120"/>
            <a:ext cx="1965960" cy="292608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ctr"/>
            <a:r>
              <a:rPr sz="1150" b="1" i="0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안도</a:t>
            </a:r>
          </a:p>
        </p:txBody>
      </p:sp>
      <p:sp>
        <p:nvSpPr>
          <p:cNvPr id="27" name="Oval 26"/>
          <p:cNvSpPr/>
          <p:nvPr/>
        </p:nvSpPr>
        <p:spPr>
          <a:xfrm>
            <a:off x="8535924" y="2606040"/>
            <a:ext cx="329184" cy="329184"/>
          </a:xfrm>
          <a:prstGeom prst="ellipse">
            <a:avLst/>
          </a:prstGeom>
          <a:solidFill>
            <a:srgbClr val="2BB6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17536" y="2971800"/>
            <a:ext cx="1965960" cy="292608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ctr"/>
            <a:r>
              <a:rPr sz="1150" b="1" i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만족</a:t>
            </a:r>
          </a:p>
        </p:txBody>
      </p:sp>
      <p:sp>
        <p:nvSpPr>
          <p:cNvPr id="29" name="Oval 28"/>
          <p:cNvSpPr/>
          <p:nvPr/>
        </p:nvSpPr>
        <p:spPr>
          <a:xfrm>
            <a:off x="10584180" y="2560320"/>
            <a:ext cx="329184" cy="329184"/>
          </a:xfrm>
          <a:prstGeom prst="ellipse">
            <a:avLst/>
          </a:prstGeom>
          <a:solidFill>
            <a:srgbClr val="2BB6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65792" y="2926079"/>
            <a:ext cx="1965960" cy="292608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ctr"/>
            <a:r>
              <a:rPr sz="1150" b="1" i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충성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4069080"/>
            <a:ext cx="128016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r"/>
            <a:r>
              <a:rPr sz="12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행동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72768" y="3657600"/>
            <a:ext cx="19659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82495" y="3657600"/>
            <a:ext cx="1746504" cy="84124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귀멸 1기 정주행 완료,
“2기 못 기다려”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21024" y="3657600"/>
            <a:ext cx="19659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30752" y="3657600"/>
            <a:ext cx="1746504" cy="84124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어디서부터 볼지
검색·커뮤니티 탐색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0" y="3657600"/>
            <a:ext cx="19659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79008" y="3657600"/>
            <a:ext cx="1746504" cy="84124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애만보에서 검색 →
이어보기 지점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17536" y="3657600"/>
            <a:ext cx="19659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27263" y="3657600"/>
            <a:ext cx="1746504" cy="84124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원작 만화로 이동,
찜·댓글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65792" y="3657600"/>
            <a:ext cx="19659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75519" y="3657600"/>
            <a:ext cx="1746504" cy="84124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AI·취향 추천으로
다음 작품 발견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" y="4937760"/>
            <a:ext cx="128016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r"/>
            <a:r>
              <a:rPr sz="12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기존 페인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72768" y="4553712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FF1F3"/>
          </a:solidFill>
          <a:ln w="12700">
            <a:solidFill>
              <a:srgbClr val="FA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682495" y="4553712"/>
            <a:ext cx="1746504" cy="74980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다음 이야기 갈증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21024" y="4553712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FF1F3"/>
          </a:solidFill>
          <a:ln w="12700">
            <a:solidFill>
              <a:srgbClr val="FA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30752" y="4553712"/>
            <a:ext cx="1746504" cy="74980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정보 제각각·
스포일러 위험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0" y="4553712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1FAF5"/>
          </a:solidFill>
          <a:ln w="12700">
            <a:solidFill>
              <a:srgbClr val="CDE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79008" y="4553712"/>
            <a:ext cx="1746504" cy="74980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— 해소 시작 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17536" y="4553712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1FAF5"/>
          </a:solidFill>
          <a:ln w="12700">
            <a:solidFill>
              <a:srgbClr val="CDE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27263" y="4553712"/>
            <a:ext cx="1746504" cy="74980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— 만족 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65792" y="4553712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FF1F3"/>
          </a:solidFill>
          <a:ln w="12700">
            <a:solidFill>
              <a:srgbClr val="FA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75519" y="4553712"/>
            <a:ext cx="1746504" cy="74980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볼 게 떨어짐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" y="5897880"/>
            <a:ext cx="128016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r"/>
            <a:r>
              <a:rPr sz="12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애만보 해결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72768" y="5394960"/>
            <a:ext cx="1965960" cy="1005840"/>
          </a:xfrm>
          <a:prstGeom prst="roundRect">
            <a:avLst>
              <a:gd name="adj" fmla="val 10000"/>
            </a:avLst>
          </a:prstGeom>
          <a:solidFill>
            <a:srgbClr val="F3EFFC"/>
          </a:solidFill>
          <a:ln w="12700">
            <a:solidFill>
              <a:srgbClr val="7C4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682495" y="5394960"/>
            <a:ext cx="1746504" cy="10058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“원작이 있다”를
인지시키는 진입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21024" y="5394960"/>
            <a:ext cx="1965960" cy="1005840"/>
          </a:xfrm>
          <a:prstGeom prst="roundRect">
            <a:avLst>
              <a:gd name="adj" fmla="val 10000"/>
            </a:avLst>
          </a:prstGeom>
          <a:solidFill>
            <a:srgbClr val="F3EFFC"/>
          </a:solidFill>
          <a:ln w="12700">
            <a:solidFill>
              <a:srgbClr val="7C4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730752" y="5394960"/>
            <a:ext cx="1746504" cy="10058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제목·자연어 검색으로
빠르게 도달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0" y="5394960"/>
            <a:ext cx="1965960" cy="1005840"/>
          </a:xfrm>
          <a:prstGeom prst="roundRect">
            <a:avLst>
              <a:gd name="adj" fmla="val 10000"/>
            </a:avLst>
          </a:prstGeom>
          <a:solidFill>
            <a:srgbClr val="F3EFFC"/>
          </a:solidFill>
          <a:ln w="12700">
            <a:solidFill>
              <a:srgbClr val="7C4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779008" y="5394960"/>
            <a:ext cx="1746504" cy="10058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“N권 M화부터”
정확한 지점 제시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17536" y="5394960"/>
            <a:ext cx="1965960" cy="1005840"/>
          </a:xfrm>
          <a:prstGeom prst="roundRect">
            <a:avLst>
              <a:gd name="adj" fmla="val 10000"/>
            </a:avLst>
          </a:prstGeom>
          <a:solidFill>
            <a:srgbClr val="F3EFFC"/>
          </a:solidFill>
          <a:ln w="12700">
            <a:solidFill>
              <a:srgbClr val="7C4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827263" y="5394960"/>
            <a:ext cx="1746504" cy="10058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양방향 이동·찜으로
매끄러운 연결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65792" y="5394960"/>
            <a:ext cx="1965960" cy="1005840"/>
          </a:xfrm>
          <a:prstGeom prst="roundRect">
            <a:avLst>
              <a:gd name="adj" fmla="val 10000"/>
            </a:avLst>
          </a:prstGeom>
          <a:solidFill>
            <a:srgbClr val="F3EFFC"/>
          </a:solidFill>
          <a:ln w="12700">
            <a:solidFill>
              <a:srgbClr val="7C4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875519" y="5394960"/>
            <a:ext cx="1746504" cy="10058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무드·취향 추천으로
재방문 유도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애만보가 해결합니다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276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애니를 본 뒤 </a:t>
            </a:r>
            <a:r>
              <a:rPr sz="220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원작 만화를 어디서부터 이어볼지</a:t>
            </a:r>
            <a:r>
              <a:rPr sz="22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즉시 알려주는 플랫폼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520440" cy="306324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8720" y="3127248"/>
            <a:ext cx="731520" cy="73152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정확한 이어보기 매핑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7091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애니 시즌 → 원작 N권 M화부터.
1,000개 작품, 892개 지점 검수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743200"/>
            <a:ext cx="3520440" cy="306324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892040" y="3127248"/>
            <a:ext cx="731520" cy="73152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41148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AI · 개인화 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47091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취향·자연어 기반 추천과
선호 장르 맞춤 큐레이션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43200"/>
            <a:ext cx="3520440" cy="306324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0" y="3127248"/>
            <a:ext cx="731520" cy="731520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4114800"/>
            <a:ext cx="2834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커뮤니티</a:t>
            </a:r>
            <a:endParaRPr sz="1800" b="1" i="0" dirty="0">
              <a:solidFill>
                <a:srgbClr val="1A162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95360" y="47091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작품마다 감상·댓글을 남기고
다른 팬들과 이야기하는 공간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913021" y="635267"/>
            <a:ext cx="603504" cy="603504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13021" y="616979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0261" y="671843"/>
            <a:ext cx="100584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애니를</a:t>
            </a:r>
            <a:r>
              <a:rPr sz="33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3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봤다면</a:t>
            </a:r>
            <a:r>
              <a:rPr sz="33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3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원작은</a:t>
            </a:r>
            <a:r>
              <a:rPr sz="33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3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여기부터</a:t>
            </a:r>
            <a:endParaRPr sz="3300" b="1" i="0" dirty="0">
              <a:solidFill>
                <a:srgbClr val="1A162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913021" y="1979435"/>
            <a:ext cx="3291840" cy="1828800"/>
          </a:xfrm>
          <a:prstGeom prst="roundRect">
            <a:avLst>
              <a:gd name="adj" fmla="val 7000"/>
            </a:avLst>
          </a:prstGeom>
          <a:solidFill>
            <a:srgbClr val="7C4DEF"/>
          </a:solidFill>
          <a:ln w="12700">
            <a:solidFill>
              <a:srgbClr val="5B3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95901" y="1979435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 dirty="0" err="1">
                <a:solidFill>
                  <a:srgbClr val="E8DEFF"/>
                </a:solidFill>
                <a:latin typeface="Malgun Gothic"/>
                <a:ea typeface="Malgun Gothic"/>
                <a:cs typeface="Malgun Gothic"/>
              </a:rPr>
              <a:t>애니</a:t>
            </a:r>
            <a:r>
              <a:rPr sz="1600" b="0" i="0" dirty="0">
                <a:solidFill>
                  <a:srgbClr val="E8DEFF"/>
                </a:solidFill>
                <a:latin typeface="Malgun Gothic"/>
                <a:ea typeface="Malgun Gothic"/>
                <a:cs typeface="Malgun Gothic"/>
              </a:rPr>
              <a:t> 1기</a:t>
            </a:r>
          </a:p>
          <a:p>
            <a:pPr algn="ctr"/>
            <a:r>
              <a:rPr sz="2400"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귀멸의</a:t>
            </a:r>
            <a:r>
              <a:rPr sz="2400"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칼날</a:t>
            </a:r>
            <a:endParaRPr sz="2400" b="1" i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04861" y="1979435"/>
            <a:ext cx="13716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7C4DE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76461" y="1979435"/>
            <a:ext cx="3657600" cy="1828800"/>
          </a:xfrm>
          <a:prstGeom prst="roundRect">
            <a:avLst>
              <a:gd name="adj" fmla="val 7000"/>
            </a:avLst>
          </a:prstGeom>
          <a:solidFill>
            <a:srgbClr val="FF3E64"/>
          </a:solidFill>
          <a:ln w="12700">
            <a:solidFill>
              <a:srgbClr val="E02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59341" y="1979435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FFD9E1"/>
                </a:solidFill>
                <a:latin typeface="Malgun Gothic"/>
                <a:ea typeface="Malgun Gothic"/>
                <a:cs typeface="Malgun Gothic"/>
              </a:rPr>
              <a:t>원작 만화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7권 54화부터</a:t>
            </a:r>
          </a:p>
        </p:txBody>
      </p:sp>
      <p:sp>
        <p:nvSpPr>
          <p:cNvPr id="11" name="Oval 10"/>
          <p:cNvSpPr/>
          <p:nvPr/>
        </p:nvSpPr>
        <p:spPr>
          <a:xfrm>
            <a:off x="2478505" y="4535424"/>
            <a:ext cx="237744" cy="237744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9985" y="448056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시즌별 이어보기 — 한 만화에 연결된 여러 애니 시즌을 방영 연도순으로</a:t>
            </a:r>
          </a:p>
        </p:txBody>
      </p:sp>
      <p:sp>
        <p:nvSpPr>
          <p:cNvPr id="13" name="Oval 12"/>
          <p:cNvSpPr/>
          <p:nvPr/>
        </p:nvSpPr>
        <p:spPr>
          <a:xfrm>
            <a:off x="2478505" y="5084063"/>
            <a:ext cx="237744" cy="237744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9985" y="502920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애니 ↔ 원작 양방향 이동, 포스터·줄거리·장르 제공</a:t>
            </a:r>
          </a:p>
        </p:txBody>
      </p:sp>
      <p:sp>
        <p:nvSpPr>
          <p:cNvPr id="15" name="Oval 14"/>
          <p:cNvSpPr/>
          <p:nvPr/>
        </p:nvSpPr>
        <p:spPr>
          <a:xfrm>
            <a:off x="2478505" y="5632703"/>
            <a:ext cx="237744" cy="237744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9985" y="5577839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“애니 시청 후 원작 N권 M화부터” 안내 문구 자동 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676656"/>
            <a:ext cx="603504" cy="603504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713232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AI · 개인화 · 똑똑한 검색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520440" cy="36576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8720" y="2331720"/>
            <a:ext cx="731520" cy="73152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29184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AI 추천 챗봇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2880360" cy="1418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울고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싶은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날 볼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작품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”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자연어로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추천</a:t>
            </a:r>
            <a:endParaRPr lang="en-US" sz="145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30000"/>
              </a:lnSpc>
            </a:pPr>
            <a:r>
              <a:rPr lang="ko-KR" altLang="en-US" sz="145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사용자의 선호 장르로 추천</a:t>
            </a:r>
            <a:endParaRPr lang="en-US" sz="14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30000"/>
              </a:lnSpc>
            </a:pP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DB에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있는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작품만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클릭형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카드로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45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추천</a:t>
            </a:r>
            <a:endParaRPr sz="14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26280" y="1965960"/>
            <a:ext cx="3520440" cy="36576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92040" y="2331720"/>
            <a:ext cx="731520" cy="73152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329184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자연어 검색 폴백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93192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제목이 안 맞아도 OK. “도깨비”로 검색하면 줄거리·장르로 귀멸의 칼날을 찾아줌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65960"/>
            <a:ext cx="3520440" cy="36576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95360" y="2331720"/>
            <a:ext cx="731520" cy="731520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329184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선호 장르 온보딩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93192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첫 로그인 시 장르 설문 → 홈 “오늘의 랜덤 픽”을 취향 맞춤으로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기술 스택 &amp;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2148840"/>
            <a:ext cx="566928" cy="566928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971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Vue 3 (Vite)
vue-router SPA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79" y="182880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931920" y="2148840"/>
            <a:ext cx="566928" cy="566928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2971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Django 5 + DRF
세션 인증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720840" y="2148840"/>
            <a:ext cx="566928" cy="566928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0840" y="2971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AniList · MangaUpdates
CSV 파이프라인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82880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09760" y="2148840"/>
            <a:ext cx="566928" cy="566928"/>
          </a:xfrm>
          <a:prstGeom prst="ellipse">
            <a:avLst/>
          </a:prstGeom>
          <a:solidFill>
            <a:srgbClr val="5B3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0" y="2971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OpenAI gpt-4o-mini
(SSAFY GMS)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617720"/>
            <a:ext cx="10515600" cy="1417320"/>
          </a:xfrm>
          <a:prstGeom prst="roundRect">
            <a:avLst>
              <a:gd name="adj" fmla="val 7000"/>
            </a:avLst>
          </a:prstGeom>
          <a:solidFill>
            <a:srgbClr val="1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617720"/>
            <a:ext cx="1005840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Vue SPA</a:t>
            </a:r>
            <a:r>
              <a:rPr sz="16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 ⇄  </a:t>
            </a:r>
            <a:r>
              <a:rPr sz="1600" b="1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Django REST API</a:t>
            </a:r>
            <a:r>
              <a:rPr sz="16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 ⇄  </a:t>
            </a:r>
            <a:r>
              <a:rPr sz="1600" b="1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SQLite</a:t>
            </a:r>
            <a:r>
              <a:rPr sz="16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     |      </a:t>
            </a:r>
            <a:r>
              <a:rPr sz="16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6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6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AniList</a:t>
            </a:r>
            <a:r>
              <a:rPr sz="16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6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MangaUpdates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9728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지금부터</a:t>
            </a:r>
            <a:r>
              <a:rPr sz="3400"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김</a:t>
            </a:r>
            <a:r>
              <a:rPr lang="ko-KR" altLang="en-US" sz="3400"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경민이</a:t>
            </a:r>
            <a:r>
              <a:rPr sz="3400"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보여드립니다</a:t>
            </a:r>
            <a:endParaRPr sz="3400" b="1" i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62763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B9B2CC"/>
                </a:solidFill>
                <a:latin typeface="Malgun Gothic"/>
                <a:ea typeface="Malgun Gothic"/>
                <a:cs typeface="Malgun Gothic"/>
              </a:rPr>
              <a:t>성공 케이스 시나리오 — 실제 사용 흐름 그대로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2743200" cy="1371600"/>
          </a:xfrm>
          <a:prstGeom prst="roundRect">
            <a:avLst>
              <a:gd name="adj" fmla="val 7000"/>
            </a:avLst>
          </a:prstGeom>
          <a:solidFill>
            <a:srgbClr val="2A2238"/>
          </a:solidFill>
          <a:ln w="12700">
            <a:solidFill>
              <a:srgbClr val="3A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" y="2944368"/>
            <a:ext cx="502920" cy="50292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9169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69748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“오늘의 랜덤 픽”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514600"/>
            <a:ext cx="2743200" cy="1371600"/>
          </a:xfrm>
          <a:prstGeom prst="roundRect">
            <a:avLst>
              <a:gd name="adj" fmla="val 7000"/>
            </a:avLst>
          </a:prstGeom>
          <a:solidFill>
            <a:srgbClr val="2A2238"/>
          </a:solidFill>
          <a:ln w="12700">
            <a:solidFill>
              <a:srgbClr val="3A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86200" y="2944368"/>
            <a:ext cx="502920" cy="50292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29169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9748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“귀멸의 칼날” 검색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514600"/>
            <a:ext cx="2743200" cy="1371600"/>
          </a:xfrm>
          <a:prstGeom prst="roundRect">
            <a:avLst>
              <a:gd name="adj" fmla="val 7000"/>
            </a:avLst>
          </a:prstGeom>
          <a:solidFill>
            <a:srgbClr val="2A2238"/>
          </a:solidFill>
          <a:ln w="12700">
            <a:solidFill>
              <a:srgbClr val="3A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20840" y="2944368"/>
            <a:ext cx="502920" cy="50292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29169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19" y="269748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이어보기 7권 54화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514600"/>
            <a:ext cx="2743200" cy="1371600"/>
          </a:xfrm>
          <a:prstGeom prst="roundRect">
            <a:avLst>
              <a:gd name="adj" fmla="val 7000"/>
            </a:avLst>
          </a:prstGeom>
          <a:solidFill>
            <a:srgbClr val="2A2238"/>
          </a:solidFill>
          <a:ln w="12700">
            <a:solidFill>
              <a:srgbClr val="3A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55480" y="2944368"/>
            <a:ext cx="502920" cy="50292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55480" y="29169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59" y="269748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원작 만화로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4160520"/>
            <a:ext cx="2743200" cy="1371600"/>
          </a:xfrm>
          <a:prstGeom prst="roundRect">
            <a:avLst>
              <a:gd name="adj" fmla="val 7000"/>
            </a:avLst>
          </a:prstGeom>
          <a:solidFill>
            <a:srgbClr val="2A2238"/>
          </a:solidFill>
          <a:ln w="12700">
            <a:solidFill>
              <a:srgbClr val="3A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468880" y="4590288"/>
            <a:ext cx="502920" cy="50292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456285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34340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챗봇: “울고 싶은 날”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4160520"/>
            <a:ext cx="2743200" cy="1371600"/>
          </a:xfrm>
          <a:prstGeom prst="roundRect">
            <a:avLst>
              <a:gd name="adj" fmla="val 7000"/>
            </a:avLst>
          </a:prstGeom>
          <a:solidFill>
            <a:srgbClr val="2A2238"/>
          </a:solidFill>
          <a:ln w="12700">
            <a:solidFill>
              <a:srgbClr val="3A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38160" y="4590288"/>
            <a:ext cx="502920" cy="50292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456285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34340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검색: “도깨비” 폴백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972800" cy="569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1,000개 </a:t>
            </a:r>
            <a:r>
              <a:rPr sz="37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매핑</a:t>
            </a:r>
            <a:r>
              <a:rPr sz="37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7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데이터</a:t>
            </a:r>
            <a:endParaRPr sz="3700" b="1" i="0" dirty="0">
              <a:solidFill>
                <a:srgbClr val="1A162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직접 만든 CSV + Python 스크립트로  수집 → 전처리 → 검증 → DB 적재까지 자동화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221992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C4DEF"/>
                </a:solidFill>
                <a:latin typeface="Malgun Gothic"/>
                <a:ea typeface="Malgun Gothic"/>
                <a:cs typeface="Malgun Gothic"/>
              </a:rPr>
              <a:t>[수집] </a:t>
            </a:r>
            <a:r>
              <a:rPr sz="145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AniList — 애니↔만화 관계·메타데이터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971800"/>
            <a:ext cx="457200" cy="45720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953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953512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C4DEF"/>
                </a:solidFill>
                <a:latin typeface="Malgun Gothic"/>
                <a:ea typeface="Malgun Gothic"/>
                <a:cs typeface="Malgun Gothic"/>
              </a:rPr>
              <a:t>[수집] </a:t>
            </a:r>
            <a:r>
              <a:rPr sz="145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MangaUpdates — 애니화 범위·이어보기 힌트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6850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685032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[전처리] </a:t>
            </a:r>
            <a:r>
              <a:rPr sz="145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번역·정제 — 줄거리/제목 한글화·오역 교정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34840"/>
            <a:ext cx="457200" cy="45720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416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416552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[</a:t>
            </a:r>
            <a:r>
              <a:rPr sz="1300" b="1" i="0" dirty="0" err="1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검증</a:t>
            </a:r>
            <a:r>
              <a:rPr sz="1300" b="1" i="0" dirty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]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이어보기</a:t>
            </a:r>
            <a:r>
              <a:rPr sz="1450" b="1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분류</a:t>
            </a:r>
            <a:r>
              <a:rPr sz="1450" b="1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출처</a:t>
            </a:r>
            <a:r>
              <a:rPr sz="1450" b="1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450" b="1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자동</a:t>
            </a:r>
            <a:r>
              <a:rPr sz="1450" b="1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판정</a:t>
            </a:r>
            <a:endParaRPr sz="1450" b="1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68680" y="5166359"/>
            <a:ext cx="457200" cy="45720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1480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287963"/>
            <a:ext cx="571500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[</a:t>
            </a:r>
            <a:r>
              <a:rPr sz="1300" b="1" i="0" dirty="0" err="1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적재</a:t>
            </a:r>
            <a:r>
              <a:rPr sz="1300" b="1" i="0" dirty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]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import_dataset</a:t>
            </a:r>
            <a:r>
              <a:rPr sz="1450" b="1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— DB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적재</a:t>
            </a:r>
            <a:endParaRPr sz="1450" b="1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0" y="2240280"/>
            <a:ext cx="4023360" cy="1143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40487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7C4DEF"/>
                </a:solidFill>
                <a:latin typeface="Malgun Gothic"/>
                <a:ea typeface="Malgun Gothic"/>
                <a:cs typeface="Malgun Gothic"/>
              </a:rPr>
              <a:t>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240280"/>
            <a:ext cx="18288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애니–만화 매핑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3566160"/>
            <a:ext cx="4023360" cy="1143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373075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892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566160"/>
            <a:ext cx="18288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이어보기 지점 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892040"/>
            <a:ext cx="4023360" cy="1143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43800" y="505663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4892040"/>
            <a:ext cx="18288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제목 오역 일괄 교정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서비스 확장성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지금 구조 위에서, 어디까지 넓힐 수 있는가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74920" cy="178308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8720" y="2651760"/>
            <a:ext cx="777240" cy="77724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40280" y="248716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데이터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999232"/>
            <a:ext cx="3520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구축한 CSV·스크립트 파이프라인을 재사용해
인기작 1,000개 → 전체 작품으로 자동 확대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074920" cy="178308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75120" y="2651760"/>
            <a:ext cx="777240" cy="77724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80" y="248716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인프라 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2999232"/>
            <a:ext cx="3520440" cy="492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클라우드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배포로</a:t>
            </a:r>
            <a:endParaRPr lang="en-US" sz="135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25000"/>
              </a:lnSpc>
            </a:pP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트래픽·동시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사용자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대응</a:t>
            </a:r>
            <a:endParaRPr sz="13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5074920" cy="178308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8720" y="4617720"/>
            <a:ext cx="777240" cy="777240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40280" y="445312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추천 고도화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965192"/>
            <a:ext cx="3520440" cy="751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의미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검색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원작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신간·애니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
2기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출시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알림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등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개인화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강화</a:t>
            </a:r>
            <a:endParaRPr lang="en-US" sz="13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25000"/>
              </a:lnSpc>
            </a:pPr>
            <a:r>
              <a:rPr lang="ko-KR" altLang="en-US" sz="135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웹 </a:t>
            </a:r>
            <a:r>
              <a:rPr lang="ko-KR" altLang="en-US" sz="135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서치</a:t>
            </a:r>
            <a:r>
              <a:rPr lang="ko-KR" altLang="en-US" sz="135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기반 추천 기능</a:t>
            </a:r>
            <a:endParaRPr sz="13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0" y="4160520"/>
            <a:ext cx="5074920" cy="178308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75120" y="4617720"/>
            <a:ext cx="777240" cy="777240"/>
          </a:xfrm>
          <a:prstGeom prst="ellipse">
            <a:avLst/>
          </a:prstGeom>
          <a:solidFill>
            <a:srgbClr val="5B3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6680" y="445312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커뮤니티·글로벌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4965192"/>
            <a:ext cx="3520440" cy="751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대댓글·좋아요로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커뮤니티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확장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,
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보유한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원제로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다국어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지원</a:t>
            </a:r>
            <a:endParaRPr lang="en-US" sz="13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25000"/>
              </a:lnSpc>
            </a:pPr>
            <a:r>
              <a:rPr lang="ko-KR" altLang="en-US" sz="135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게시판 개설</a:t>
            </a:r>
            <a:endParaRPr sz="13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88575" y="4572000"/>
            <a:ext cx="2651760" cy="2651760"/>
          </a:xfrm>
          <a:prstGeom prst="ellipse">
            <a:avLst/>
          </a:prstGeom>
          <a:solidFill>
            <a:srgbClr val="5B3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82735" y="4114800"/>
            <a:ext cx="2011680" cy="201168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B9B2CC"/>
                </a:solidFill>
                <a:latin typeface="Malgun Gothic"/>
                <a:ea typeface="Malgun Gothic"/>
                <a:cs typeface="Malgun Gothic"/>
              </a:rPr>
              <a:t>애니 보고, 만화 보고 — </a:t>
            </a:r>
            <a:r>
              <a:rPr sz="2000" b="1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원작으로 이어지는 가장 빠른 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애만보</a:t>
            </a:r>
            <a:r>
              <a:rPr sz="1400" b="0" i="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400" b="0" i="0" dirty="0" err="1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관통</a:t>
            </a:r>
            <a:r>
              <a:rPr sz="1400" b="0" i="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 PJT  |  </a:t>
            </a:r>
            <a:r>
              <a:rPr lang="ko-KR" altLang="en-US" sz="140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김선종</a:t>
            </a:r>
            <a:r>
              <a:rPr lang="en-US" altLang="ko-KR" sz="140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40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김경민</a:t>
            </a:r>
            <a:r>
              <a:rPr sz="1400" b="0" i="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|  </a:t>
            </a:r>
            <a:r>
              <a:rPr lang="en-US" sz="1400" b="0" i="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https://github.com/gangmom5272/aemanbo.git</a:t>
            </a:r>
            <a:endParaRPr sz="1400" b="0" i="0" dirty="0">
              <a:solidFill>
                <a:srgbClr val="8E87A6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803</Words>
  <Application>Microsoft Office PowerPoint</Application>
  <PresentationFormat>와이드스크린</PresentationFormat>
  <Paragraphs>150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SSAFY</cp:lastModifiedBy>
  <cp:revision>5</cp:revision>
  <dcterms:created xsi:type="dcterms:W3CDTF">2013-01-27T09:14:16Z</dcterms:created>
  <dcterms:modified xsi:type="dcterms:W3CDTF">2026-06-25T05:18:33Z</dcterms:modified>
  <cp:category/>
</cp:coreProperties>
</file>